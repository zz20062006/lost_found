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448495" cy="36576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校园失物招领互助平台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B2D0"/>
                </a:solidFill>
                <a:latin typeface="Microsoft YaHei"/>
              </a:defRPr>
            </a:pPr>
            <a:r>
              <a:t>基于 Java Web 的校园综合服务平台  ——  技术架构与实现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B0"/>
                </a:solidFill>
                <a:latin typeface="Microsoft YaHei"/>
              </a:defRPr>
            </a:pPr>
            <a:r>
              <a:t>技术栈：Java Servlet + JSP + JDBC + MySQL + Bootstrap  |  架构：MVC  |  JDK 11 + Tomcat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0A0"/>
                </a:solidFill>
                <a:latin typeface="Microsoft YaHei"/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667EEA"/>
                </a:solidFill>
                <a:latin typeface="Microsoft YaHei"/>
              </a:defRPr>
            </a:pPr>
            <a:r>
              <a:t>校园失物招领互助平台</a:t>
            </a:r>
          </a:p>
          <a:p>
            <a:pPr>
              <a:spcAft>
                <a:spcPts val="9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面向全校师生，提供失物发布、物品招领、在线认领、留言互动、后台管理等完整功能链。</a:t>
            </a:r>
          </a:p>
          <a:p>
            <a:pPr>
              <a:spcAft>
                <a:spcPts val="9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- 支持普通用户和管理员两种角色，权限严格区分</a:t>
            </a:r>
          </a:p>
          <a:p>
            <a:pPr>
              <a:spcAft>
                <a:spcPts val="900"/>
              </a:spcAft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- 前后端完全分离的 AJAX 异步交互，不刷新页面</a:t>
            </a:r>
          </a:p>
          <a:p>
            <a:pPr>
              <a:spcAft>
                <a:spcPts val="900"/>
              </a:spcAft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- MVC 三层架构，48 个文件，覆盖全部核心技术栈</a:t>
            </a:r>
          </a:p>
          <a:p>
            <a:pPr>
              <a:spcAft>
                <a:spcPts val="900"/>
              </a:spcAft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- 纯 CSS 动画角色登录页，眼球追踪+遮眼+挥手交互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1737360" cy="18288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  <a:latin typeface="Microsoft YaHei"/>
              </a:defRPr>
            </a:pPr>
            <a:r>
              <a:t>48+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项目文件数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371600"/>
            <a:ext cx="1737360" cy="18288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16459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657600"/>
            <a:ext cx="1737360" cy="18288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319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754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Servlet控制器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3657600"/>
            <a:ext cx="1737360" cy="18288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39319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4754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JSP视图页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平台定位：校园内部使用的失物招领互助系统，旨在通过信息化手段提高校园失物找回效率，促进师生互助。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技术栈全景图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011680" cy="18288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HTML5</a:t>
            </a:r>
            <a:br/>
            <a:r>
              <a:t>CSS3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前端结构样式</a:t>
            </a:r>
            <a:br/>
            <a:r>
              <a:t>Bootstrap/动画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554480"/>
            <a:ext cx="2011680" cy="18288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828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JavaScript</a:t>
            </a:r>
            <a:br/>
            <a:r>
              <a:t>jQuery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51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交互逻辑</a:t>
            </a:r>
            <a:br/>
            <a:r>
              <a:t>AJAX/Toast/DOM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554480"/>
            <a:ext cx="2011680" cy="1828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828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JSP</a:t>
            </a:r>
            <a:br/>
            <a:r>
              <a:t>Servlet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651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视图+控制层</a:t>
            </a:r>
            <a:br/>
            <a:r>
              <a:t>17页面+6控制器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554480"/>
            <a:ext cx="2011680" cy="18288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828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JavaBean</a:t>
            </a:r>
            <a:br/>
            <a:r>
              <a:t>JDBC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651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数据模型+持久</a:t>
            </a:r>
            <a:br/>
            <a:r>
              <a:t>5实体+连接池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554480"/>
            <a:ext cx="2011680" cy="18288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828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MySQL</a:t>
            </a:r>
            <a:br/>
            <a:r>
              <a:t>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651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数据存储+安全</a:t>
            </a:r>
            <a:br/>
            <a:r>
              <a:t>5表+3过滤器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分层架构：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前端：HTML5 + CSS3 + JavaScript + jQuery + Bootstrap 4 + Font Awesome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视图层：JSP（17个页面）+ EL表达式 + Scriptlet + &lt;jsp:useBean&gt; 标准标签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控制层：Servlet 3.1（6个控制器）+ @WebServlet/@MultipartConfig 注解 + Session 管理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业务层：Service（5个）+ DAO（5个）+ Entity（5个JavaBean）+ PreparedStatement 防注入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数据层：MySQL 8.0 + JDBC DriverManager + utf8mb4 字符集 + 外键级联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安全层：Filter 链 → EncodingFilter(编码) → LoginFilter(登录) → AdminFilter(权限)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MVC 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926080" cy="25603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View 视图层</a:t>
            </a:r>
            <a:br/>
            <a:r>
              <a:t>JSP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FF"/>
                </a:solidFill>
                <a:latin typeface="Microsoft YaHei"/>
              </a:defRPr>
            </a:pPr>
            <a:r>
              <a:t>17 个 JSP 页面</a:t>
            </a:r>
            <a:br/>
            <a:r>
              <a:t>HTML + Bootstrap</a:t>
            </a:r>
            <a:br/>
            <a:r>
              <a:t>AJAX 交互</a:t>
            </a:r>
            <a:br/>
            <a:r>
              <a:t>&lt;js p:useBean&gt;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2926080" cy="256032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Controller 控制层</a:t>
            </a:r>
            <a:br/>
            <a:r>
              <a:t>Servlet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517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FF"/>
                </a:solidFill>
                <a:latin typeface="Microsoft YaHei"/>
              </a:defRPr>
            </a:pPr>
            <a:r>
              <a:t>6 个 Servlet</a:t>
            </a:r>
            <a:br/>
            <a:r>
              <a:t>请求分发 + 参数解析</a:t>
            </a:r>
            <a:br/>
            <a:r>
              <a:t>Session 管理</a:t>
            </a:r>
            <a:br/>
            <a:r>
              <a:t>JSON / 转发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926080" cy="2560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Model 模型层</a:t>
            </a:r>
            <a:br/>
            <a:r>
              <a:t>Service + DAO + 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6517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FF"/>
                </a:solidFill>
                <a:latin typeface="Microsoft YaHei"/>
              </a:defRPr>
            </a:pPr>
            <a:r>
              <a:t>5 Service + 5 DAO</a:t>
            </a:r>
            <a:br/>
            <a:r>
              <a:t>5 Entity (JavaBean)</a:t>
            </a:r>
            <a:br/>
            <a:r>
              <a:t>JDBC + MySQL</a:t>
            </a:r>
            <a:br/>
            <a:r>
              <a:t>分页 + 筛选 + 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68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F8C8D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F8C8D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请求流程（以"发布失物"为例）：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1. 用户填写表单+选择图片 →  2. JS收集FormData → AJAX POST →  3. EncodingFilter (UTF-8) → LoginFilter (Session检查)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4. LostItemServlet.publish() 解析参数+保存图片 →  5. LostItemService.publish() 业务校验 →  6. LostItemDAO.insert() 执行SQL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7. JDBC PreparedStatement → MySQL写入 →  8. 返回JSON →  9. 前端Toast提示 →  10. 跳转列表页 →  11. 列表页重新查询展示新物品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前端核心技术应用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667EEA"/>
                </a:solidFill>
                <a:latin typeface="Microsoft YaHei"/>
              </a:defRPr>
            </a:pPr>
            <a:r>
              <a:t>HTML5 + CSS3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- Bootstrap 4 响应式栅格系统，PC端完美适配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- 300+ 行纯 CSS3 绘制卡通角色，零图片依赖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- @keyframes 动画：渐变背景、浮动气泡、角色浮动/挥手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- transition/transform 实现卡片悬停、按钮动效</a:t>
            </a:r>
          </a:p>
          <a:p>
            <a:pPr>
              <a:spcAft>
                <a:spcPts val="90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2000" b="1">
                <a:solidFill>
                  <a:srgbClr val="667EEA"/>
                </a:solidFill>
                <a:latin typeface="Microsoft YaHei"/>
              </a:defRPr>
            </a:pPr>
            <a:r>
              <a:t>JavaScript + jQuery + AJAX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- 所有表单异步提交（$.post / $.ajax），不刷新页面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- 眼球追踪：mousemove → Math.atan2 → pupil transform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- 图片上传预览（FileReader）+ Lightbox 全屏放大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- Toast 消息提示 + 确认弹窗 + 分页动态渲染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764BA2"/>
                </a:solidFill>
                <a:latin typeface="Microsoft YaHei"/>
              </a:defRPr>
            </a:pPr>
            <a:r>
              <a:t>JSP 视图层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- 17 个 JSP 页面，覆盖前台 + 管理后台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核心 JSP 技术点：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page 指令：contentType / import / pageEncoding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Scriptlet：&lt;% %&gt; 嵌入 Java 调用 Service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表达式：&lt;%= %&gt; 输出数据到 HTML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EL表达式：${pageContext.request.contextPath}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标准标签：&lt;jsp:useBean&gt; 在 user-center.jsp 中使用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条件渲染：&lt;% if %&gt; / &lt;% else %&gt; 区分登录态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循环渲染：&lt;% for %&gt; 生成物品卡片列表</a:t>
            </a:r>
          </a:p>
          <a:p>
            <a:pPr>
              <a:spcAft>
                <a:spcPts val="9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500" b="1">
                <a:solidFill>
                  <a:srgbClr val="764BA2"/>
                </a:solidFill>
                <a:latin typeface="Microsoft YaHei"/>
              </a:defRPr>
            </a:pPr>
            <a:r>
              <a:t>auth.jsp — 登录注册二合一动画角色页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index.jsp — 首页(失物+招领+已找回+公告四模块)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search.jsp — 统一搜索(同时搜索失物+招领表)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item-detail.jsp — 详情(信息+图片放大+留言+认领)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后端核心技术应用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667EEA"/>
                </a:solidFill>
                <a:latin typeface="Microsoft YaHei"/>
              </a:defRPr>
            </a:pPr>
            <a:r>
              <a:t>Servlet 控制层 (6个)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UserServlet — 登录/注册/退出/修改资料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LostItemServlet — 发布/列表/详情/编辑/删除/状态/认领 + 图片上传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FoundItemServlet — 招领 CRUD + 图片上传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CommentServlet — 留言添加/列表/删除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AnnouncementServlet — 公告 CRUD(管理员)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AdminServlet — 用户管理/审核/统计(管理员)</a:t>
            </a:r>
          </a:p>
          <a:p>
            <a:pPr>
              <a:spcAft>
                <a:spcPts val="9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@WebServlet 注解路由 + @MultipartConfig 文件上传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action 参数分发 → switch-case → 业务方法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Session 管理：setAttribute / getAttribute / invalidate</a:t>
            </a:r>
          </a:p>
          <a:p>
            <a:pPr>
              <a:spcAft>
                <a:spcPts val="90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1">
                <a:solidFill>
                  <a:srgbClr val="28A745"/>
                </a:solidFill>
                <a:latin typeface="Microsoft YaHei"/>
              </a:defRPr>
            </a:pPr>
            <a:r>
              <a:t>Filter 过滤器链 (3个)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EncodingFilter — @WebFilter("/*") 全局 UTF-8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LoginFilter — 未登录拦截，白名单放行 list/detail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AdminFilter — /admin/* 权限验证，AJAX 返回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764BA2"/>
                </a:solidFill>
                <a:latin typeface="Microsoft YaHei"/>
              </a:defRPr>
            </a:pPr>
            <a:r>
              <a:t>Service + DAO + JDBC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Service 业务层 (5个)：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业务逻辑封装 + 密码MD5 + 数据校验 + 状态流转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DAO 数据访问层 (5个)：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PreparedStatement 参数化查询，防 SQL 注入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分页：COUNT(*) + LIMIT offset, pageSize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搜索：WHERE title LIKE ? OR place LIKE ?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筛选：category + status 动态拼接 WHERE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多表JOIN：发布者昵称 + 认领者昵称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JDBC 工具类 DBUtil.java：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DriverManager.getConnection() 获取连接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finally 块关闭 Connection/PS/RS 防止泄漏</a:t>
            </a:r>
          </a:p>
          <a:p>
            <a:pPr>
              <a:spcAft>
                <a:spcPts val="900"/>
              </a:spcAft>
              <a:defRPr sz="6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500" b="1">
                <a:solidFill>
                  <a:srgbClr val="2C3E50"/>
                </a:solidFill>
                <a:latin typeface="Microsoft YaHei"/>
              </a:defRPr>
            </a:pPr>
            <a:r>
              <a:t>JavaBean (5个Entity)：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User/LostItem/FoundItem/Comment/Announcement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private属性 + getter/setter + 无参构造</a:t>
            </a:r>
          </a:p>
          <a:p>
            <a:pPr>
              <a:spcAft>
                <a:spcPts val="9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  user-center.jsp 中 &lt;jsp:useBean&gt; 显式声明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148840" cy="32004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users</a:t>
            </a:r>
            <a:br/>
            <a:r>
              <a:t>用户表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user_id(PK)</a:t>
            </a:r>
            <a:br/>
            <a:r>
              <a:t>username(UNIQUE)</a:t>
            </a:r>
            <a:br/>
            <a:r>
              <a:t>password(MD5)</a:t>
            </a:r>
            <a:br/>
            <a:r>
              <a:t>nickname/phone/email</a:t>
            </a:r>
            <a:br/>
            <a:r>
              <a:t>role(0用户/1管理员)</a:t>
            </a:r>
            <a:br/>
            <a:r>
              <a:t>status(0禁用/1正常)</a:t>
            </a:r>
            <a:br/>
            <a:r>
              <a:t>create_time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554480"/>
            <a:ext cx="2148840" cy="32004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lost_items</a:t>
            </a:r>
            <a:br/>
            <a:r>
              <a:t>失物表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7744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item_id(PK)</a:t>
            </a:r>
            <a:br/>
            <a:r>
              <a:t>user_id(FK→users)</a:t>
            </a:r>
            <a:br/>
            <a:r>
              <a:t>title/category</a:t>
            </a:r>
            <a:br/>
            <a:r>
              <a:t>lost_time/lost_place</a:t>
            </a:r>
            <a:br/>
            <a:r>
              <a:t>image/contact</a:t>
            </a:r>
            <a:br/>
            <a:r>
              <a:t>status(0-3)</a:t>
            </a:r>
            <a:br/>
            <a:r>
              <a:t>claimed_by</a:t>
            </a:r>
            <a:br/>
            <a:r>
              <a:t>create_time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554480"/>
            <a:ext cx="2148840" cy="32004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7373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found_items</a:t>
            </a:r>
            <a:br/>
            <a:r>
              <a:t>招领表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37744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item_id(PK)</a:t>
            </a:r>
            <a:br/>
            <a:r>
              <a:t>user_id(FK→users)</a:t>
            </a:r>
            <a:br/>
            <a:r>
              <a:t>title/category</a:t>
            </a:r>
            <a:br/>
            <a:r>
              <a:t>found_time/found_place</a:t>
            </a:r>
            <a:br/>
            <a:r>
              <a:t>image/contact</a:t>
            </a:r>
            <a:br/>
            <a:r>
              <a:t>status(0-2)</a:t>
            </a:r>
            <a:br/>
            <a:r>
              <a:t>claimed_by</a:t>
            </a:r>
            <a:br/>
            <a:r>
              <a:t>create_time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554480"/>
            <a:ext cx="2148840" cy="3200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7373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comments</a:t>
            </a:r>
            <a:br/>
            <a:r>
              <a:t>留言表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37744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comment_id(PK)</a:t>
            </a:r>
            <a:br/>
            <a:r>
              <a:t>item_id</a:t>
            </a:r>
            <a:br/>
            <a:r>
              <a:t>item_type(0失物/1招领)</a:t>
            </a:r>
            <a:br/>
            <a:r>
              <a:t>user_id(FK→users)</a:t>
            </a:r>
            <a:br/>
            <a:r>
              <a:t>content</a:t>
            </a:r>
            <a:br/>
            <a:r>
              <a:t>create_time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554480"/>
            <a:ext cx="2148840" cy="3200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7373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announcements</a:t>
            </a:r>
            <a:br/>
            <a:r>
              <a:t>公告表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37744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EEFF"/>
                </a:solidFill>
                <a:latin typeface="Microsoft YaHei"/>
              </a:defRPr>
            </a:pPr>
            <a:r>
              <a:t>announcement_id(PK)</a:t>
            </a:r>
            <a:br/>
            <a:r>
              <a:t>title</a:t>
            </a:r>
            <a:br/>
            <a:r>
              <a:t>content</a:t>
            </a:r>
            <a:br/>
            <a:r>
              <a:t>create_time</a:t>
            </a:r>
            <a:br/>
            <a:r>
              <a:t>update_time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数据库：lost_found  |  字符集：utf8mb4（支持中文+Emoji） |  存储引擎：InnoDB  |  外键约束：CASCADE 级联删除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status 状态码设计：0=待审核  1=寻找中/待认领  2=已找回/已认领  3=已认领(失物专用)  |  claimed_by 记录认领者ID</a:t>
            </a:r>
          </a:p>
          <a:p>
            <a:pPr>
              <a:spcAft>
                <a:spcPts val="9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核心查询：分页(COUNT+LIMIT) + 模糊搜索(LIKE %keyword%) + 多条件筛选(动态WHERE) + 多表JOIN(发布者+认领者)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功能模块全景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公共模块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50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网站首页（失物+招领+已找回+公告）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全局搜索（同时搜索失物和招领表）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30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用户注册（AJAX+MD5加密）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3708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用户登录（Session+动画角色交互）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6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109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退出登录（Session销毁）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554480"/>
            <a:ext cx="3566160" cy="64008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普通用户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37744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450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发布失物/招领（含图片上传）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01752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090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物品列表（分页+分类+搜索）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65760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730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物品详情（信息+图片放大+留言）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29768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3708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认领失物（确认→状态→记录认领者）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93776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0109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个人中心（资料+发布+留言+标记找回）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554480"/>
            <a:ext cx="356616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管理员后台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37744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450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控制面板（统计：发布量/完成率）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01752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090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用户管理（分页+搜索+禁用+删除）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65760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3730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失物/招领审核（筛选+通过+驳回+删除）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29768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3708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留言管理（搜索+删除违规内容）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4937760"/>
            <a:ext cx="356616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50109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公告管理（发布+编辑+删除）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所有操作均完成前后端数据交互 | 统一 JSON 响应格式 {code, msg, data} | AJAX 异步不刷新 | Toast 提示反馈 | 分页提升体验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532120" cy="10972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Microsoft YaHei"/>
              </a:defRPr>
            </a:pPr>
            <a:r>
              <a:t>纯 CSS 动画角色登录页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300+ 行 CSS 绘制完整卡通角色，眼球追踪鼠标、输密码遮眼、输用户名挥手，零图片依赖，GPU 加速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532120" cy="10972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Microsoft YaHei"/>
              </a:defRPr>
            </a:pPr>
            <a:r>
              <a:t>严格 MVC 三层架构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View(JSP)→Controller(Servlet)→Model(Service+DAO+Entity)，职责清晰，48文件分层管理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5532120" cy="10972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Microsoft YaHei"/>
              </a:defRPr>
            </a:pPr>
            <a:r>
              <a:t>全 AJAX 前后端分离交互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表单异步提交、JSON 响应、Toast 提示、图片 FormData 上传+本地预览，不刷新页面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51760"/>
            <a:ext cx="5532120" cy="10972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78892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Microsoft YaHei"/>
              </a:defRPr>
            </a:pPr>
            <a:r>
              <a:t>智能搜索 + 多维筛选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54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同时搜索失物和招领表，匹配名称/地点/描述，支持分类+状态+关键词任意组合筛选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5532120" cy="10972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Microsoft YaHei"/>
              </a:defRPr>
            </a:pPr>
            <a:r>
              <a:t>完整认领业务闭环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发布(寻找中)→认领(已认领)→首页已找回模块→认领者记录(claimed_by)，数据库 ALTER TABLE 在线扩展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31920"/>
            <a:ext cx="5532120" cy="10972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06908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Microsoft YaHei"/>
              </a:defRPr>
            </a:pPr>
            <a:r>
              <a:t>泛型分页组件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434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PageInfo&lt;T&gt; 泛型类，支持任意实体类型，Bootstrap 分页自动渲染，每页条数可配置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5532120" cy="10972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34924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Microsoft YaHei"/>
              </a:defRPr>
            </a:pPr>
            <a:r>
              <a:t>多层安全机制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15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三层 Filter 链(编码→登录→权限)，MD5 密码，PreparedStatement 防注入，Session 超时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212080"/>
            <a:ext cx="5532120" cy="10972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34924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Microsoft YaHei"/>
              </a:defRPr>
            </a:pPr>
            <a:r>
              <a:t>IDE 开箱即用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715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.classpath + .vscode 配置，servlet-api.jar 纳入项目，VS Code 零报错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项目难点与解决方案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Microsoft YaHei"/>
              </a:defRPr>
            </a:pPr>
            <a:r>
              <a:t>1. 中文路径编译失败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Microsoft YaHei"/>
              </a:defRPr>
            </a:pPr>
            <a:r>
              <a:t>问题：项目路径含中文，javac -cp 解析失败，100+ 编译错误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方案：绝对路径指定 classpath + 分批编译 + jar 复制到项目内 + .classpath 配置 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Microsoft YaHei"/>
              </a:defRPr>
            </a:pPr>
            <a:r>
              <a:t>2. JDBC 编码参数错误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Microsoft YaHei"/>
              </a:defRPr>
            </a:pPr>
            <a:r>
              <a:t>问题：characterEncoding=utf8mb4 导致 UnsupportedEncodingException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方案：改为 UTF-8（Java标准编码），与 MySQL utf8mb4 字符集配合使用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9144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Microsoft YaHei"/>
              </a:defRPr>
            </a:pPr>
            <a:r>
              <a:t>3. web.xml 非法配置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29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Microsoft YaHei"/>
              </a:defRPr>
            </a:pPr>
            <a:r>
              <a:t>问题：&lt;multipart-config&gt; 顶层元素导致 Tomcat Schema 校验失败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方案：删除非法元素，改用 @MultipartConfig 注解配置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Microsoft YaHei"/>
              </a:defRPr>
            </a:pPr>
            <a:r>
              <a:t>4. 认领功能联动修改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Microsoft YaHei"/>
              </a:defRPr>
            </a:pPr>
            <a:r>
              <a:t>问题：新增认领需同时改数据库+Entity+DAO+Service+Servlet+JSP+CSS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方案：逐层推进修改，try-catch 保护可选列，LEFT JOIN 兼容新旧数据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94960"/>
            <a:ext cx="11247120" cy="91440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Microsoft YaHei"/>
              </a:defRPr>
            </a:pPr>
            <a:r>
              <a:t>5. 角色动画性能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Microsoft YaHei"/>
              </a:defRPr>
            </a:pPr>
            <a:r>
              <a:t>问题：mousemove 高频触发(60fps)可能导致页面卡顿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方案：CSS transition 限制刷新率，cached DOM 引用，Math.hypot 限制最大偏移 3.5px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本项目完整实现了校园失物招领互助平台的全部功能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272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覆盖 HTML5/CSS3/JavaScript/jQuery/JSP/Servlet/JavaBean/JDBC/DAO/MVC 全部核心技术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112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严格遵循 MVC 三层架构，代码分层清晰，48 个文件各司其职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953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创新亮点：纯 CSS 动画角色登录页 + 眼球追踪交互 + 完整认领闭环 + 泛型分页组件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793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DD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67EEA"/>
                </a:solidFill>
                <a:latin typeface="Microsoft YaHei"/>
              </a:defRPr>
            </a:pPr>
            <a:r>
              <a:t>后续可扩展方向：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474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BBBDD"/>
                </a:solidFill>
                <a:latin typeface="Microsoft YaHei"/>
              </a:defRPr>
            </a:pPr>
            <a:r>
              <a:t>  - 引入 Spring Boot 框架简化配置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3153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BBBDD"/>
                </a:solidFill>
                <a:latin typeface="Microsoft YaHei"/>
              </a:defRPr>
            </a:pPr>
            <a:r>
              <a:t>  - 使用 MyBatis 替代手写 JDBC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1558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BBBDD"/>
                </a:solidFill>
                <a:latin typeface="Microsoft YaHei"/>
              </a:defRPr>
            </a:pPr>
            <a:r>
              <a:t>  - 接入微信小程序端，扩大用户覆盖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1996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BBBDD"/>
                </a:solidFill>
                <a:latin typeface="Microsoft YaHei"/>
              </a:defRPr>
            </a:pPr>
            <a:r>
              <a:t>  - 添加消息推送（Email/短信），通知失主和认领者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15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